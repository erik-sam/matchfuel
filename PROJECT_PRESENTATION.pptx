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4E827-2638-4321-948E-31E2E1C388E6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52C0F-4F35-4687-BBBD-64A8E6652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39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197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16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29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98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7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459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732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136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524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759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93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147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391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495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422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408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821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864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52C0F-4F35-4687-BBBD-64A8E665212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65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087E-6236-2700-48B7-0F42119CA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C944D-3494-7631-4119-9725C89DB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569F8-3F50-38A8-6504-41DBA2C9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1C86-8925-DF37-1728-9D9113EC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27768-489D-3CA7-81B2-605CB87F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25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14AB-54C8-C708-586B-943E6F58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713D-DD33-4E9D-5C95-7AE1C186B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718CB-A9A2-8B07-2896-966A0A1F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057CD-895F-5AE5-E101-006DC914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F3504-6610-A982-9486-685D8C1F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25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43D0-E886-F869-D891-AA3ED565F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30EE5-50CF-8BE1-3437-102EE679B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EE4D7-E148-E142-64BE-26669B4E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6120-C849-3EAC-C12C-4173D702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0190-C415-120E-277E-56B8A130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73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9682-423C-B91B-3897-FAE4226D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02951-53F9-E93A-CBAC-C7207E48E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AD135-02A5-1784-20B5-0831A6CB3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89314-DD89-32E0-A53E-A658D706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9E7E0-CECF-92E4-BEBA-4B187294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C130C-AE57-A654-7B04-4A32EE29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22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AF09-4DD9-B069-71EA-B3731662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1443B-B5C2-5472-72AE-759CFEE1B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7DD25-6BA3-8A9E-85C8-7EBE6FD71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EB308-448E-366F-D188-9CC1699BC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CDAE5-5969-C736-7419-0BE970155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B80E7-30F8-6898-5677-138422EA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AF11B-4735-F1C1-5D5B-40D9358E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5C6E4-0F29-61A7-85B0-0A87DA0D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64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B0D9-C1A4-96D3-BE54-F7BAA048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05AA3-EB96-16A1-4AF5-FD394533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86279-A716-84C8-D994-3D1E532F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FA5FB-CEAA-BCAA-E37B-EC510C3A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07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D3588-4497-25D7-0695-43818351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F25E8-4C0D-EB4B-FAD8-CBBA2628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A3F70-6E31-D4E3-4459-F6B73217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49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491C-28B7-0FC3-7877-716F2376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3CD00-574D-1DAB-1D41-778CAEAD6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40052-3485-0338-AD0B-BF4D9B6A7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DD7FF-4989-0091-EF0A-8ACFB57C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71F9B-4F86-EEBD-3089-4DA6D22F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2C608-4E79-B106-8E1E-D1E9ED06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01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AAF4-1DC3-323E-A802-8A2A847D4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F7B6F-B221-A58F-72A8-9FF32D763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CBB15-AE37-8AD5-3D6B-4C197ED22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0B843-69B5-2675-5E6D-4270CFB1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9428-56B9-83FA-594A-98F52F72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AF876-FFC1-BBAF-3A2C-C281BCC7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37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4EBA-02E8-1D98-B0F7-EF35F6BB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6B7F9-11D0-C77E-C2C4-90642D225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3B615-9639-42B5-1109-0437F24A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83AA0-54D7-0C5A-B06B-04637E00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DC013-3F08-F83A-ADBC-1B6C8B77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50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E62ACD-364C-E1D4-53B7-DEB7975FF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FC33B-C34E-50BE-5D1F-A025CC685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A6488-F82F-1E71-948B-62813C744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37B1B-6E97-4880-F906-A504FAA6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384D6-2B54-AC94-C5F0-E5C97534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31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D9B39-C9C4-122E-4A44-72D51C70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BEE7C-E833-9ED0-3E25-904467FC4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33E10-5EDC-DDAF-981B-F34A045DC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4AFA9-FE2D-4C0F-881E-D6D049BA2F7E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1C8FD-17C9-1196-192E-69709F2F3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F47DE-7452-259F-D95D-8C219B646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69009-6137-4ADD-B4F1-7FD560430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77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A90FBE-633B-5194-83D3-E96015756289}"/>
              </a:ext>
            </a:extLst>
          </p:cNvPr>
          <p:cNvSpPr/>
          <p:nvPr/>
        </p:nvSpPr>
        <p:spPr>
          <a:xfrm>
            <a:off x="0" y="0"/>
            <a:ext cx="12192000" cy="30861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8898A-80B0-C4CF-E06A-6682D24A7862}"/>
              </a:ext>
            </a:extLst>
          </p:cNvPr>
          <p:cNvSpPr txBox="1"/>
          <p:nvPr/>
        </p:nvSpPr>
        <p:spPr>
          <a:xfrm>
            <a:off x="762000" y="6858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Calibri" panose="020F0502020204030204" pitchFamily="34" charset="0"/>
              </a:rPr>
              <a:t>M A T C H F U E L</a:t>
            </a:r>
            <a:endParaRPr lang="en-GB" sz="1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4ACA5-784C-C2CA-4DC0-1B9CC0B16F2F}"/>
              </a:ext>
            </a:extLst>
          </p:cNvPr>
          <p:cNvSpPr txBox="1"/>
          <p:nvPr/>
        </p:nvSpPr>
        <p:spPr>
          <a:xfrm>
            <a:off x="762000" y="1097280"/>
            <a:ext cx="10668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6400" b="1">
                <a:solidFill>
                  <a:srgbClr val="FFFFFF"/>
                </a:solidFill>
                <a:latin typeface="Calibri" panose="020F0502020204030204" pitchFamily="34" charset="0"/>
              </a:rPr>
              <a:t>MatchFuel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35EEC-B300-C303-5B0D-C5C3B0630C56}"/>
              </a:ext>
            </a:extLst>
          </p:cNvPr>
          <p:cNvSpPr txBox="1"/>
          <p:nvPr/>
        </p:nvSpPr>
        <p:spPr>
          <a:xfrm>
            <a:off x="762000" y="20574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 i="1">
                <a:solidFill>
                  <a:srgbClr val="F0FCF0"/>
                </a:solidFill>
                <a:latin typeface="Calibri" panose="020F0502020204030204" pitchFamily="34" charset="0"/>
              </a:rPr>
              <a:t>Football Performance Optimizer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E8A00-7C05-12DB-3082-30D6AA27CF5E}"/>
              </a:ext>
            </a:extLst>
          </p:cNvPr>
          <p:cNvSpPr txBox="1"/>
          <p:nvPr/>
        </p:nvSpPr>
        <p:spPr>
          <a:xfrm>
            <a:off x="762000" y="3977640"/>
            <a:ext cx="10668000" cy="21852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800" b="1" dirty="0">
                <a:solidFill>
                  <a:srgbClr val="2E7D32"/>
                </a:solidFill>
                <a:latin typeface="Calibri" panose="020F0502020204030204" pitchFamily="34" charset="0"/>
              </a:rPr>
              <a:t>Erik Samodivkin</a:t>
            </a:r>
          </a:p>
          <a:p>
            <a:pPr algn="ctr">
              <a:spcAft>
                <a:spcPts val="600"/>
              </a:spcAft>
            </a:pPr>
            <a:r>
              <a:rPr lang="en-GB" sz="2200" dirty="0">
                <a:solidFill>
                  <a:srgbClr val="333333"/>
                </a:solidFill>
                <a:latin typeface="Calibri" panose="020F0502020204030204" pitchFamily="34" charset="0"/>
              </a:rPr>
              <a:t>Software Project Course</a:t>
            </a:r>
          </a:p>
          <a:p>
            <a:pPr algn="ctr"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Calibri" panose="020F0502020204030204" pitchFamily="34" charset="0"/>
              </a:rPr>
              <a:t>Technical</a:t>
            </a:r>
            <a:r>
              <a:rPr lang="en-GB" sz="2200" dirty="0">
                <a:solidFill>
                  <a:srgbClr val="333333"/>
                </a:solidFill>
                <a:latin typeface="Calibri" panose="020F0502020204030204" pitchFamily="34" charset="0"/>
              </a:rPr>
              <a:t> University of Sofia</a:t>
            </a:r>
          </a:p>
          <a:p>
            <a:pPr algn="ctr">
              <a:spcAft>
                <a:spcPts val="600"/>
              </a:spcAft>
            </a:pPr>
            <a:endParaRPr lang="en-GB" sz="2200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en-GB" sz="2200" dirty="0">
                <a:solidFill>
                  <a:srgbClr val="333333"/>
                </a:solidFill>
                <a:latin typeface="Calibri" panose="020F0502020204030204" pitchFamily="34" charset="0"/>
              </a:rPr>
              <a:t>10.05.2026</a:t>
            </a:r>
          </a:p>
        </p:txBody>
      </p:sp>
    </p:spTree>
    <p:extLst>
      <p:ext uri="{BB962C8B-B14F-4D97-AF65-F5344CB8AC3E}">
        <p14:creationId xmlns:p14="http://schemas.microsoft.com/office/powerpoint/2010/main" val="241858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930982-5410-CE1A-0528-B2C4A3BE729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9FC18-6394-C359-360D-9DC9CE3A2C53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890B7-9B3D-3056-FCDC-A88E44DD5130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Why amateur footballers need this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8F52B-FE76-EB28-5C15-FA7B5F425360}"/>
              </a:ext>
            </a:extLst>
          </p:cNvPr>
          <p:cNvSpPr txBox="1"/>
          <p:nvPr/>
        </p:nvSpPr>
        <p:spPr>
          <a:xfrm>
            <a:off x="635000" y="1524000"/>
            <a:ext cx="10922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264 million amateur footballers worldwide (FIFA Big Count)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Less than 0.04 percent have access to a sports nutritionist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Generic web articles ignore individual data: weight, sleep, last training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Result: cramping, premature fatigue, minor injuries are routine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Bulgaria: 80,000 registered + 250,000 amateurs with no professional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A6860-3B8E-4018-CF04-EA12BDB71CF8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2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938D6-910F-3C32-0DDF-E4037D0CDCDE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260219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C1D38-07DA-A38D-4B54-B3038BB843F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EEC22-1EB6-E831-995F-617D04A52EA0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The Solution - MatchFuel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3B735-1EA3-59EA-8FB3-77B25D835E76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What the application actually does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1F543-565F-F2E7-E941-4D9DE9CCDA12}"/>
              </a:ext>
            </a:extLst>
          </p:cNvPr>
          <p:cNvSpPr txBox="1"/>
          <p:nvPr/>
        </p:nvSpPr>
        <p:spPr>
          <a:xfrm>
            <a:off x="635000" y="1524000"/>
            <a:ext cx="10922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Personalized match-day plan from 8 user inputs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Covers nutrition, hydration, warm-up, and post-match recovery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Adapts after every match via 4-question feedback form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Pure client-side: no backend, no install, no account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Free, offline-first, native Bulgarian language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C9969-DBBB-46FB-B8BB-3A59F2EA055D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3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FBD91-134C-AEC5-E5CD-464F98DAE5A2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263012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700166-E09A-306A-6D98-FC71E6918ED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6B264-A7A7-84D2-950D-FFAEA8BB37CE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Agent Loop - OBSERVE, DECIDE, ACT, 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7BBC3-DAC8-C7FB-495C-2C2F5DA195B9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The four-phase cycle that closes after every match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BDC3BD-500D-18E0-869F-8CF580156DAE}"/>
              </a:ext>
            </a:extLst>
          </p:cNvPr>
          <p:cNvSpPr txBox="1"/>
          <p:nvPr/>
        </p:nvSpPr>
        <p:spPr>
          <a:xfrm>
            <a:off x="635000" y="1524000"/>
            <a:ext cx="10922000" cy="2492990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
      +-----------------------------------------------+
      |                                               |
      v                                               |
   OBSERVE  ---&gt;  DECIDE  ---&gt;  ACT  ---&gt;  LEARN  ----+
   (form +        (modules)     (DOM)      (feedback)
    history)
      sensors      reasoning     actuators   learning
                                              element
  Each match-day cycle reads history, decides a plan,
  renders it, and updates corrections for next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6B6D5-03EA-D7DA-F8CD-CA6AE91B8A21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4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A67AA-07F0-A1E6-DC99-1F0269F4857E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74366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C99444-1AD1-0ED6-FC6E-8B98D88454F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E1483-987E-025D-ACDE-DFF4AE52A5CB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8061D-6D12-1D40-DAF6-E03ADBAD3175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13 source files, ~3,200 lines of JavaScript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67199-D058-195F-3352-B85166051B8B}"/>
              </a:ext>
            </a:extLst>
          </p:cNvPr>
          <p:cNvSpPr txBox="1"/>
          <p:nvPr/>
        </p:nvSpPr>
        <p:spPr>
          <a:xfrm>
            <a:off x="635000" y="1524000"/>
            <a:ext cx="10922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12 ES modules + 1 HTML entry point + 1 stylesheet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Pure functions, no global mutable state, explicit args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ui.js is the only file that touches the DOM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mealPlanner.js orchestrates - calls all other modules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One concern per module: nutrition, energy, food, warmup, hydration, recovery, feedback, profiles, bodyFat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CA456-B42E-AEC5-5D2E-ECD42884E0B0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5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1DC33-DB2A-6A4D-21B8-A368D2EB1691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183524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B3A94-4798-F1DB-FBE2-BE910415C22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6600A-CEAC-106F-A08F-B59531270FEC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Dataset - sample_players.json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43210-FA00-5575-999F-6B3E4BF19D6C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10 player profiles, 33 match-history entries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F13793-CF03-7FBD-98ED-2C64FE2C747F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Schema matches MatchFuel localStorage layout - replayable directly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Cohort designed for ablation: varies sleep, diet, season, injury, late match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Data from May 2026; one player has 5 matches, one has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D5A6E-CE56-EA3F-8033-D88925B7FAE2}"/>
              </a:ext>
            </a:extLst>
          </p:cNvPr>
          <p:cNvSpPr txBox="1"/>
          <p:nvPr/>
        </p:nvSpPr>
        <p:spPr>
          <a:xfrm>
            <a:off x="635000" y="2946400"/>
            <a:ext cx="10922000" cy="1938992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Profiles:          10           History entries: 33
Field      Min    Max    Mean    Std (n-1)
weight     60     80     72.7    6.43 kg
height     168    186    178.9   5.69 cm
age        22     29     25.4    2.22 yr
sleep      5.5    8.0    7.15    0.67 h
Diversity: 4 positions, 4 diets, 3 seasons,
2 of 10 profiles have an active injury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E6A55-712E-57E8-2507-4160DFF0A31B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6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02888-0A27-EFA1-8AD6-EDA55B3A22E5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783280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FC8905-3403-C57B-B7C9-996F5900E42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CAA9A-2BB0-30F3-D672-894513DE5E50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Dataset - Correlation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52EF8-7C17-2DE7-5C24-F048F5AE1A48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Pearson r over 33 history entries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CA195-F4A2-A82D-C111-0FEB86DA4FC0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Deterministic correlations (|r| &gt; 0.9) validate that rules fire as designed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sleep x physicalScore (+0.43) is empirical - confirms domain assumption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All values computed live from the dataset by the build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CDB0C-67F9-83E8-FBD6-91B3E10E4E7B}"/>
              </a:ext>
            </a:extLst>
          </p:cNvPr>
          <p:cNvSpPr txBox="1"/>
          <p:nvPr/>
        </p:nvSpPr>
        <p:spPr>
          <a:xfrm>
            <a:off x="635000" y="2946400"/>
            <a:ext cx="10922000" cy="1938992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correlation                              r       interpretation
-------------------------------------------------------------------
mealTooHeavy   x  portionMultiplier    -1.00    deterministic rule
legFatigue     x  carbMultiplier       +0.96    deterministic rule
physicalScore  x  energyMultiplier     -0.93    rule reduces energy
                                                if rated 5/5
physicalScore  x  score                +0.93    score dominated by
                                                phys term
sleep          x  physicalScore        +0.43    sleep predicts
                                               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5411D-2472-DF22-9F76-1B79FD6DC4F8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7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992FA-B3DA-4567-CBC8-4FF8273F2D08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463217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046866-9451-7E10-0984-D8386C060DA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B4C98-E3B3-8114-EC80-B9351793F517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Algorithm 1 - Exponential Decay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FE23A-EBFA-390B-38F6-34A55D470765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energy.js - fatigue accounting with 3-day half-life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6C694-E157-BBC9-AF19-35224F17B507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Half-life of 3 days matches glycogen replenishment + DOMS resolution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 second decay (half-life 2 days) is used in hydration.js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Old training contributes 5x less to today's plan than recent training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3812A-0DF3-3981-BA0F-9CF9F30181B5}"/>
              </a:ext>
            </a:extLst>
          </p:cNvPr>
          <p:cNvSpPr txBox="1"/>
          <p:nvPr/>
        </p:nvSpPr>
        <p:spPr>
          <a:xfrm>
            <a:off x="635000" y="2946400"/>
            <a:ext cx="10922000" cy="2123658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const FATIGUE_HALFLIFE_DAYS = 3;
function recencyFactor(dateStr) {
  return Math.exp(-daysAgo(dateStr) / FATIGUE_HALFLIFE_DAYS);
}
recentLoad = SUM_i  minutes_i * typeFactor_i * recencyFactor(date_i)
  d=0    1.00       d=3    0.37  (half-life)
  d=1    0.72       d=5    0.19
  d=2    0.51       d=7    0.10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F01E4-DF9A-C080-B869-C9D00C6DEF57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8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864E7-548E-F25B-CC48-69AF862FF7F6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982971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756112-777B-A476-AC39-46611AACE3E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CC73A-630C-258B-6235-A58D225E91FB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Algorithm 2 - Deurenberg Formula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E39A3-D217-F779-C80E-5A45A43EAB47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bodyFat.js - body composition from 4 inputs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F391E-03F2-943F-2D2E-0BFE8D8B8475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Accuracy +/- 3 to 4 percentage points for adults aged 16+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Uses only fields the form already collects (no calipers, no tape)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Visualised as 5-segment colored scale (Essential / Athlete / Fit / Average / Overweight)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36BB-E6A2-FBF8-7DAE-D3277061A02E}"/>
              </a:ext>
            </a:extLst>
          </p:cNvPr>
          <p:cNvSpPr txBox="1"/>
          <p:nvPr/>
        </p:nvSpPr>
        <p:spPr>
          <a:xfrm>
            <a:off x="635000" y="2946400"/>
            <a:ext cx="10922000" cy="1754326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BF% = 1.20 * BMI + 0.23 * age - 10.8 * G - 5.4
      where G = 1 (male), 0 (female)
      BMI = weight_kg / height_m^2
const heightM = height / 100;
const bmi = weight / (heightM * heightM);
const genderFactor = gender === 'male' ? 1 : 0;
const bf = 1.20 * bmi + 0.23 * age
         - 10.8 * genderFactor - 5.4;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65AA9-E76C-E65A-0E3B-C63702CA3782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9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CDDB4-C291-E91E-9592-343BF9B0BC9E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2436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B998A1-B76C-DA94-DFE8-0D3CBC254F2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92C01-0B60-80E2-3AEF-50E42ABB1BCD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Algorithm 3 - Levenshtein Distance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9BD8C-349F-8FDE-9B2B-C153770592E4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foodMatcher.js - fuzzy food matching, 5-stage chain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191E9-0622-B67A-AD73-D5C8FAAE83C3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Standard O(|a| x |b|) dynamic programming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Length-difference pruning cuts work to ~O(n*m*k/3) on real dictionary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94 percent useful resolution rate measured on 50-input probe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FDF4C-9209-62BE-7036-94FD50DB680A}"/>
              </a:ext>
            </a:extLst>
          </p:cNvPr>
          <p:cNvSpPr txBox="1"/>
          <p:nvPr/>
        </p:nvSpPr>
        <p:spPr>
          <a:xfrm>
            <a:off x="635000" y="2946400"/>
            <a:ext cx="10922000" cy="1754326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1. exact key      -&gt;  'chicken'         in foodDatabase
2. alias dict     -&gt;  'pileshko'    -&gt;  chicken
3. fuzzy match    -&gt;  'chiken'      -&gt;  chicken  (d=1)
4. category       -&gt;  'meso'        -&gt;  meat averages
5. none           -&gt;  reject + UI error
threshold:  d &lt;= 1 if input &lt;= 4 chars
            d &lt;= 2 otherwise
pruning:    skip candidates where  abs(|a|-|b|) &gt; threshold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AA698-CD43-E576-BA08-4B047B671E1B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10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77E50-FFFF-E16D-A3F7-541254FDCED3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119292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96DC09-EE54-994C-A165-CBDD5D19BF6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3B01E-CCD2-58B3-ABE5-34BBDE4F56D4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Algorithm 4 - Rule-Based Correction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C9260-21F9-211F-606A-E516F93ADDA8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feedback.js - 4 inputs to 3 multipliers, bounded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C2876-B274-567A-10CB-0CEE77CF4DE5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Hard clamp [0.70, 1.30] - no single match shifts plan more than +/- 30 percent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Interpretable: every multiplier traces back to one or two signals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No gradient descent needed - &lt;= 10 entries per profile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57D63-49DB-55E7-4497-11BB8F3C895E}"/>
              </a:ext>
            </a:extLst>
          </p:cNvPr>
          <p:cNvSpPr txBox="1"/>
          <p:nvPr/>
        </p:nvSpPr>
        <p:spPr>
          <a:xfrm>
            <a:off x="635000" y="2946400"/>
            <a:ext cx="10922000" cy="2677656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energyM = 1.0;  carbM = 1.0;  portionM = 1.0;
if (physicalScore &lt;= 2)        energyM  += 0.10;
else if (physicalScore === 3)  energyM  += 0.05;
else if (physicalScore === 5)  energyM  -= 0.05;
if (legFatigue)        carbM   += 0.15;
if (mealTooHeavy)      portionM -= 0.10;
if (!lastedFullMatch) {
  energyM += 0.10;
  carbM   += 0.10;
}
clamp(x, 0.70, 1.30);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E8365-27B4-7C0E-71B7-076E0BBFB5C1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11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32E99-1F55-4D38-FD7B-43DADCEE38FE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108706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794983-0538-EF98-3544-7AE36EC2B40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29E3C-7A81-6299-6F56-80FC3EA1F692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Agent Phase 1 - OBSERVE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2FF17-B1F8-4D4E-E7B7-FC5AF9A408A1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Two sensor channels - live and persistent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C66BB-26B1-57F0-A87F-FE18C804F29B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Without the persistent channel there is no learning - history is the agent's memory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Profile and history are per-player; switching profile switches the agent's state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Sliding window of last 10 matches per profile bounds memory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3D6FF-1716-04D2-630A-BC3D420BABDD}"/>
              </a:ext>
            </a:extLst>
          </p:cNvPr>
          <p:cNvSpPr txBox="1"/>
          <p:nvPr/>
        </p:nvSpPr>
        <p:spPr>
          <a:xfrm>
            <a:off x="635000" y="2946400"/>
            <a:ext cx="10922000" cy="1200329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Source       Channel               Frequency
-------------------------------------------------
match form   DOM input elements    every plan
profile      localStorage          every plan
history      localStorage          every plan
feedback     DOM (after match)     once per match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C289A-8E22-6337-0BB0-94C0BDBC7FE3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12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CC992-11A4-9CFE-497D-D5F0CA8A3500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4002476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CFFB8B-F0F5-25AB-2074-E05A10EC1E9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83FFE-BEAA-0F9F-3502-60DAD2251685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Agent Phase 2 - DECIDE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4005F-3A5A-7E3F-271E-3E390C1B4895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DAG of pure functions, no global mutable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C4AB2-72D7-EF9C-2A51-59A45A3C5B10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All data flows through explicit arguments - testable in isolation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Decisions are conditional: same input + different context = different output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match &gt;= 18:00 triggers lunch path; injury list filters exercises by zone tag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CD344-C96C-43E2-D3E2-7E13823B5D39}"/>
              </a:ext>
            </a:extLst>
          </p:cNvPr>
          <p:cNvSpPr txBox="1"/>
          <p:nvPr/>
        </p:nvSpPr>
        <p:spPr>
          <a:xfrm>
            <a:off x="635000" y="2946400"/>
            <a:ext cx="10922000" cy="1938992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Module          Agent role
--------------------------------------------------------
bodyFat.js      Body composition (Deurenberg)
energy.js       Daily kcal target (recency-weighted load)
nutrition.js    Per-100g macro tables, category averages
foodMatcher.js  Symbol grounding (text -&gt; canonical food)
mealPlanner.js  Meal composition + timeline orchestration
warmup.js       Exercise selection with injury filter
hydration.js    Daily water + reminder schedule
recovery.js     Post-match meal + cooldown exercises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DA353-7776-31ED-4CAA-B386B42D748D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13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95840-8000-DAAC-E1C3-B7340CDAD8EE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131982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B81C12-DDB8-50F5-5245-F8BC9CB72C0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98BFE-E2B6-1687-43F7-0D25F70AA4C2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Agent Phases 3 and 4 - ACT and 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A0682-AAD0-A375-3B06-960FC7252B43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DOM rendering plus the off-line learning element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8F3AF-B00B-ABF6-D48C-FE1FF31CC088}"/>
              </a:ext>
            </a:extLst>
          </p:cNvPr>
          <p:cNvSpPr txBox="1"/>
          <p:nvPr/>
        </p:nvSpPr>
        <p:spPr>
          <a:xfrm>
            <a:off x="635000" y="1524000"/>
            <a:ext cx="10922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ACT actuators (DOM): timeline, energy curve, warmup cards, BF scale, recovery, hydration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Player is the final actuator -&gt; advisory agent (AIMA section 27.1)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LEARN runs at a different cadence - once per completed match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4 feedback signals -&gt; 3 correction multipliers (rule-based, see slide 11)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Hard clamp [0.70, 1.30] guarantees bounded, stable updates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D1DE9-1C9A-1157-A6D8-31B7491FA037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14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584EF-53DD-C1FC-DA1D-153345076E6F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214838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BBDF64-8509-C29D-C046-D13333CDF0C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41E60-8660-FEF7-7D47-7F9969C03AA2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Results - Energy Cohort + Decay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63FEA-9DFF-14E5-41A4-4DCC9172AA1E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Predicted kcal across cohort; recency vs flat 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19B39-E581-C785-4EBC-79A8B9F4ACAF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Goalkeeper factor 0.90 vs midfielder 1.10 produces 350 kcal swing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Anya hits 2000 kcal floor - safety check for low body weight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Recency decay correctly distinguishes recent from old training (5x ratio)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15210-2FEB-854F-3673-F998345B75A3}"/>
              </a:ext>
            </a:extLst>
          </p:cNvPr>
          <p:cNvSpPr txBox="1"/>
          <p:nvPr/>
        </p:nvSpPr>
        <p:spPr>
          <a:xfrm>
            <a:off x="635000" y="2946400"/>
            <a:ext cx="10922000" cy="2308324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Profile        weight  sleep  position    kcal predicted
-------------------------------------------------------------
Erik           72      7.5    midfielder  2376
Lucas          78      8.0    forward     2580
Hiro           75      7.5    goalkeeper  2025
Anya           60      7.5    midfielder  2000 (hard floor)
Recency-decay ablation - 3 x 60min cardio:
  pattern             flat sum   recency-weighted
  today, -1, -2       234            519
  -1, -3, -5          234            300
  -5, -6, -7          234             98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99C0C-F6C0-ECB7-12E6-E623B1B44394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15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9956C-9C48-C325-1761-D07FA630FC4B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2183485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2D569B-39BE-58BD-0C9B-D51487F30B9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F3920-41A2-54F3-B5F1-EDB77A28ECEA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Results - Adaptive Learning Convergence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B5289-E763-1C94-418C-09C30C87290B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Lucas Petrov, 4 matches from sample_players.json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F4F14-6EFF-32D4-FEFF-0783350DB4DD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Match 3: weak performance + leg fatigue + did not last -&gt; strong correction applied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Match 4: full recovery to baseline - bounded correction prevents overshoot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Demonstrates real-data convergence of the learn-act-feedback cycle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83ED9-8B29-5EA6-8BAE-7E877F6BB7EE}"/>
              </a:ext>
            </a:extLst>
          </p:cNvPr>
          <p:cNvSpPr txBox="1"/>
          <p:nvPr/>
        </p:nvSpPr>
        <p:spPr>
          <a:xfrm>
            <a:off x="635000" y="2946400"/>
            <a:ext cx="10922000" cy="1754326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Match  date         phys  legFat  lasted  energyM  carbM  score
---------------------------------------------------------------
  1    11.04.2026    4     n      y       1.00     1.00     80
  2    18.04.2026    4     n      y       1.00     1.00     90
  3    25.04.2026    2     y      n       1.20     1.25     40
  4    02.05.2026    5     n      y       0.95     1.00    100
  M3 = bad day -&gt; +20% energy, +25% carbs (single-step correction)
  M4 = back to baseline -&gt; no overshoot, score returns to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98ECE-C7B4-5C41-6CF1-095706A5B1A6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16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D1D46-7848-2EC9-C048-73AD2BAD60AD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1798982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3332D7-DA72-4630-9479-C9683E38B78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74ACB-A474-A1C7-AD42-1AC7AEBC20A4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Results - Fuzzy Match + Hydration Scaling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6D836-0F14-767A-B890-5D938FACC402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Levenshtein probe and ACSM-aligned season scaling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88D6D-2664-8586-BCD4-A03A2B1718FB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94 percent useful resolution rate matches design target for fuzzy matching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Hot-season multiplier 1.25 aligns with ACSM fluid-replacement guidelines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Both numbers reproducible from sample_players.json + foodDatabase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C8DD6-96FD-F7DD-6BFE-AAB3E75F5E4F}"/>
              </a:ext>
            </a:extLst>
          </p:cNvPr>
          <p:cNvSpPr txBox="1"/>
          <p:nvPr/>
        </p:nvSpPr>
        <p:spPr>
          <a:xfrm>
            <a:off x="635000" y="2946400"/>
            <a:ext cx="10922000" cy="3231654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Levenshtein probe (50 user-typed inputs):
  exact         18
  alias         14
  fuzzy         11
  category       4
  none           3
  -------------------
  useful       47/50  (94%)
Hydration scaling for Sofia (hot season):
  base 35ml * 64kg     = 2240 ml
  + match supplement   =  600 ml
  subtotal             = 2840 ml
  x season multiplier  x 1.25 (hot)
  total                = 3550 ml/day
  cool-season equivalent: 2840 ml  (+25% justified by environment)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50742-9211-F266-F3A3-9B1767220C27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17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2ACC3-E8AC-5A58-E3F0-FD7214DB67A8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999661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73A360-8D93-D548-9CDA-36069938860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398E2-0FE6-A2A9-70BC-8490D6A6DA08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Repository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6390B-841C-6A12-28F4-4CA5D67007C0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Application source + evaluation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C16D2-9769-35DD-A380-BB77C5BF9F8D}"/>
              </a:ext>
            </a:extLst>
          </p:cNvPr>
          <p:cNvSpPr txBox="1"/>
          <p:nvPr/>
        </p:nvSpPr>
        <p:spPr>
          <a:xfrm>
            <a:off x="635000" y="1524000"/>
            <a:ext cx="10922000" cy="11285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13 source files - 12 JS modules + 1 HTML entry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No build step, no transpiler, no node_modules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Replayable cohort lives next to the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3ABB1-5140-5AEC-50D3-0E2CFECE9330}"/>
              </a:ext>
            </a:extLst>
          </p:cNvPr>
          <p:cNvSpPr txBox="1"/>
          <p:nvPr/>
        </p:nvSpPr>
        <p:spPr>
          <a:xfrm>
            <a:off x="635000" y="2946400"/>
            <a:ext cx="10922000" cy="3416320"/>
          </a:xfrm>
          <a:prstGeom prst="rect">
            <a:avLst/>
          </a:prstGeom>
          <a:solidFill>
            <a:srgbClr val="E8F5E9"/>
          </a:solidFill>
          <a:ln w="6350">
            <a:solidFill>
              <a:schemeClr val="tx1"/>
            </a:solidFill>
          </a:ln>
        </p:spPr>
        <p:txBody>
          <a:bodyPr vert="horz" lIns="101600" tIns="50800" rIns="101600" bIns="50800" rtlCol="0">
            <a:spAutoFit/>
          </a:bodyPr>
          <a:lstStyle/>
          <a:p>
            <a:r>
              <a:rPr lang="en-GB" sz="1200">
                <a:solidFill>
                  <a:srgbClr val="333333"/>
                </a:solidFill>
                <a:latin typeface="Consolas" panose="020B0609020204030204" pitchFamily="49" charset="0"/>
              </a:rPr>
              <a:t>Software Project/
+-- MatchFuel/
|   +-- index.html               main page
|   +-- style.css                stylesheet
|   +-- ui.js                    entry point - DOM glue
|   +-- mealPlanner.js           orchestrator
|   +-- nutrition.js             foodDatabase + calculateMacros
|   +-- foodMatcher.js           Levenshtein + BG/EN aliases
|   +-- energy.js                kcal with recency decay
|   +-- energyChart.js           Chart.js renderer
|   +-- warmup.js                exercises with injury filter
|   +-- feedback.js              adaptive correction rules
|   +-- bodyFat.js               Deurenberg formula
|   +-- hydration.js             water + reminders
|   +-- recovery.js              post-match plan
|   +-- profiles.js              localStorage layer
+-- data/
    +-- sample_players.json      10 profiles + 33 history entries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2DBD2-70A6-0227-8277-172BFF76D73B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18 /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2C21D-D145-90C6-042F-A74C06CA6329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424071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2152D-FF16-EF7A-171F-565B54F4E4F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F9EC6-6CF3-B93D-2813-ADD8920CB34B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E0942-6910-F8AB-5C07-8F2C3F9BC2EF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What was delivered, and how it was validated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F239-8863-E1A2-6A35-FA8732C374FA}"/>
              </a:ext>
            </a:extLst>
          </p:cNvPr>
          <p:cNvSpPr txBox="1"/>
          <p:nvPr/>
        </p:nvSpPr>
        <p:spPr>
          <a:xfrm>
            <a:off x="635000" y="1524000"/>
            <a:ext cx="10922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Working advisory learning agent: full Observe-Decide-Act-Learn loop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Four documented algorithms with formal references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Validation: dataset correlations match algorithmic design (|r| &gt; 0.9)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Bounded learning: max +/- 30 percent shift per match guarantees stability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Free, client-side, Bulgarian-language - directly fits the national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35994-39FA-2FA1-305F-E1C11A5FA023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19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6E069-F9D5-0462-DD82-BD1CFA244F4C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545847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778962-1049-B9BF-2B89-2FA7203EEE9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879CE-87BF-4F71-54AF-868F199AE30D}"/>
              </a:ext>
            </a:extLst>
          </p:cNvPr>
          <p:cNvSpPr txBox="1"/>
          <p:nvPr/>
        </p:nvSpPr>
        <p:spPr>
          <a:xfrm>
            <a:off x="457200" y="3048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2E7D32"/>
                </a:solidFill>
                <a:latin typeface="Calibri" panose="020F0502020204030204" pitchFamily="34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F78F4-A645-174B-59E0-09998948B859}"/>
              </a:ext>
            </a:extLst>
          </p:cNvPr>
          <p:cNvSpPr txBox="1"/>
          <p:nvPr/>
        </p:nvSpPr>
        <p:spPr>
          <a:xfrm>
            <a:off x="482600" y="1117600"/>
            <a:ext cx="11226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i="1">
                <a:solidFill>
                  <a:srgbClr val="606060"/>
                </a:solidFill>
                <a:latin typeface="Calibri" panose="020F0502020204030204" pitchFamily="34" charset="0"/>
              </a:rPr>
              <a:t>Books, papers, standards, documentation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9EDF3-8108-F6D9-AF5E-82A4C302A276}"/>
              </a:ext>
            </a:extLst>
          </p:cNvPr>
          <p:cNvSpPr txBox="1"/>
          <p:nvPr/>
        </p:nvSpPr>
        <p:spPr>
          <a:xfrm>
            <a:off x="635000" y="1524000"/>
            <a:ext cx="10922000" cy="21646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Russell &amp; Norvig (2020). Artificial Intelligence: A Modern Approach, 4th ed.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Deurenberg, P. et al. (1991). Body mass index as a measure of body fatness. BJN 65(2), 105-114.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Levenshtein, V. (1966). Binary codes capable of correcting deletions, insertions, and reversals.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Burke &amp; Hawley (2018). Carbohydrates for training and competition. J Sports Sci, 29(sup1).</a:t>
            </a:r>
          </a:p>
          <a:p>
            <a:pPr indent="-285750">
              <a:spcAft>
                <a:spcPts val="800"/>
              </a:spcAft>
              <a:buChar char="•"/>
            </a:pPr>
            <a:r>
              <a:rPr lang="en-GB">
                <a:solidFill>
                  <a:srgbClr val="333333"/>
                </a:solidFill>
                <a:latin typeface="Calibri" panose="020F0502020204030204" pitchFamily="34" charset="0"/>
              </a:rPr>
              <a:t>ISSN nutrient timing (2017); ACSM fluid replacement (2007); FIFA Big Count (2007); Chart.js docs; MDN Web Docs.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347FD-5292-2A08-0FE9-A127DF70EB9C}"/>
              </a:ext>
            </a:extLst>
          </p:cNvPr>
          <p:cNvSpPr txBox="1"/>
          <p:nvPr/>
        </p:nvSpPr>
        <p:spPr>
          <a:xfrm>
            <a:off x="10922000" y="6502400"/>
            <a:ext cx="101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000">
                <a:solidFill>
                  <a:srgbClr val="606060"/>
                </a:solidFill>
                <a:latin typeface="Calibri" panose="020F0502020204030204" pitchFamily="34" charset="0"/>
              </a:rPr>
              <a:t>20 /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2E2A3-C513-3CD7-D4B2-B7ACF3901986}"/>
              </a:ext>
            </a:extLst>
          </p:cNvPr>
          <p:cNvSpPr txBox="1"/>
          <p:nvPr/>
        </p:nvSpPr>
        <p:spPr>
          <a:xfrm>
            <a:off x="355600" y="65024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 i="1">
                <a:solidFill>
                  <a:srgbClr val="606060"/>
                </a:solidFill>
                <a:latin typeface="Calibri" panose="020F0502020204030204" pitchFamily="34" charset="0"/>
              </a:rPr>
              <a:t>MatchFuel -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13096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2347</Words>
  <Application>Microsoft Office PowerPoint</Application>
  <PresentationFormat>Widescreen</PresentationFormat>
  <Paragraphs>183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Samodivkin</dc:creator>
  <cp:lastModifiedBy>Erik Samodivkin</cp:lastModifiedBy>
  <cp:revision>3</cp:revision>
  <dcterms:created xsi:type="dcterms:W3CDTF">2026-05-10T08:07:39Z</dcterms:created>
  <dcterms:modified xsi:type="dcterms:W3CDTF">2026-05-10T08:16:32Z</dcterms:modified>
</cp:coreProperties>
</file>